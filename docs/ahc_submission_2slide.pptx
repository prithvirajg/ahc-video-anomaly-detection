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3774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D97706"/>
                </a:solidFill>
                <a:latin typeface="Verdana"/>
              </a:rPr>
              <a:t>AHC VISUAL INTELLIGENCE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A1D23"/>
                </a:solidFill>
                <a:latin typeface="Verdana"/>
              </a:rPr>
              <a:t>Real-time anomaly detection without training a single weight</a:t>
            </a:r>
          </a:p>
        </p:txBody>
      </p:sp>
      <p:pic>
        <p:nvPicPr>
          <p:cNvPr id="6" name="Picture 5" descr="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0432"/>
            <a:ext cx="6537960" cy="30213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207008"/>
            <a:ext cx="44348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D97706"/>
                </a:solidFill>
                <a:latin typeface="Verdana"/>
              </a:rPr>
              <a:t>MODEL CHOICES, AND WHY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1A1D23"/>
                </a:solidFill>
                <a:latin typeface="Verdana"/>
              </a:rPr>
              <a:t>SigLIP2-base as the filter</a:t>
            </a:r>
          </a:p>
          <a:p>
            <a:pPr algn="l">
              <a:spcAft>
                <a:spcPts val="900"/>
              </a:spcAft>
            </a:pPr>
            <a:r>
              <a:rPr sz="960" b="0">
                <a:solidFill>
                  <a:srgbClr val="5B6472"/>
                </a:solidFill>
                <a:latin typeface="Verdana"/>
              </a:rPr>
              <a:t>Scores every surviving frame against 30 written normal rules (+1) and 63 perturbed actions (-1). A sigmoid encoder gives calibrated per-pair scores, so the sum is meaningful; CLIP softmax only ranks.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1A1D23"/>
                </a:solidFill>
                <a:latin typeface="Verdana"/>
              </a:rPr>
              <a:t>Qwen3-VL-4B-Instruct as the judge</a:t>
            </a:r>
          </a:p>
          <a:p>
            <a:pPr algn="l">
              <a:spcAft>
                <a:spcPts val="900"/>
              </a:spcAft>
            </a:pPr>
            <a:r>
              <a:rPr sz="960" b="0">
                <a:solidFill>
                  <a:srgbClr val="5B6472"/>
                </a:solidFill>
                <a:latin typeface="Verdana"/>
              </a:rPr>
              <a:t>Chosen over the 3B once the T4 16 GB removed the VRAM constraint. Independently validated for this task: QVAD uses it, and Qwen3-VL took 2nd/3rd in AI City Challenge 2026 Track 3.</a:t>
            </a:r>
          </a:p>
          <a:p>
            <a:pPr algn="l">
              <a:spcAft>
                <a:spcPts val="100"/>
              </a:spcAft>
            </a:pPr>
            <a:r>
              <a:rPr sz="1150" b="1">
                <a:solidFill>
                  <a:srgbClr val="1A1D23"/>
                </a:solidFill>
                <a:latin typeface="Verdana"/>
              </a:rPr>
              <a:t>Zero training anywhere</a:t>
            </a:r>
          </a:p>
          <a:p>
            <a:pPr algn="l">
              <a:spcAft>
                <a:spcPts val="0"/>
              </a:spcAft>
            </a:pPr>
            <a:r>
              <a:rPr sz="960" b="0">
                <a:solidFill>
                  <a:srgbClr val="5B6472"/>
                </a:solidFill>
                <a:latin typeface="Verdana"/>
              </a:rPr>
              <a:t>Both models are frozen and zero-shot. The only fitted number in the system is one health threshold, calibrated on known-normal clips.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413248"/>
            <a:ext cx="11274552" cy="10972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5961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F766E"/>
                </a:solidFill>
                <a:latin typeface="Verdana"/>
              </a:rPr>
              <a:t>0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5332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0" b="0">
                <a:solidFill>
                  <a:srgbClr val="5B6472"/>
                </a:solidFill>
                <a:latin typeface="Verdana"/>
              </a:rPr>
              <a:t>false alarms on normal
videos, every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2" y="55961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F766E"/>
                </a:solidFill>
                <a:latin typeface="Verdana"/>
              </a:rPr>
              <a:t>2.8x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605332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0" b="0">
                <a:solidFill>
                  <a:srgbClr val="5B6472"/>
                </a:solidFill>
                <a:latin typeface="Verdana"/>
              </a:rPr>
              <a:t>faster than realtime
on one T4 GPU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2624" y="55961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F766E"/>
                </a:solidFill>
                <a:latin typeface="Verdana"/>
              </a:rPr>
              <a:t>87%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92624" y="605332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0" b="0">
                <a:solidFill>
                  <a:srgbClr val="5B6472"/>
                </a:solidFill>
                <a:latin typeface="Verdana"/>
              </a:rPr>
              <a:t>of frames never
reach the VLM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0336" y="55961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F766E"/>
                </a:solidFill>
                <a:latin typeface="Verdana"/>
              </a:rPr>
              <a:t>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605332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0" b="0">
                <a:solidFill>
                  <a:srgbClr val="5B6472"/>
                </a:solidFill>
                <a:latin typeface="Verdana"/>
              </a:rPr>
              <a:t>of wall time is spent
inside the VLM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5596128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0F766E"/>
                </a:solidFill>
                <a:latin typeface="Verdana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605332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60" b="0">
                <a:solidFill>
                  <a:srgbClr val="5B6472"/>
                </a:solidFill>
                <a:latin typeface="Verdana"/>
              </a:rPr>
              <a:t>blind eval videos,
all answered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37744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>
                <a:solidFill>
                  <a:srgbClr val="D97706"/>
                </a:solidFill>
                <a:latin typeface="Verdana"/>
              </a:rPr>
              <a:t>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1A1D23"/>
                </a:solidFill>
                <a:latin typeface="Verdana"/>
              </a:rPr>
              <a:t>Four experiments, three that worked, one that did not</a:t>
            </a:r>
          </a:p>
        </p:txBody>
      </p:sp>
      <p:pic>
        <p:nvPicPr>
          <p:cNvPr id="6" name="Picture 5" descr="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33856"/>
            <a:ext cx="5577840" cy="2890335"/>
          </a:xfrm>
          <a:prstGeom prst="rect">
            <a:avLst/>
          </a:prstGeom>
        </p:spPr>
      </p:pic>
      <p:pic>
        <p:nvPicPr>
          <p:cNvPr id="7" name="Picture 6" descr="du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03320"/>
            <a:ext cx="5577840" cy="25353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63640" y="1152144"/>
            <a:ext cx="54864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D97706"/>
                </a:solidFill>
                <a:latin typeface="Verdana"/>
              </a:rPr>
              <a:t>TWO FINDINGS THAT CHANGED THE DESIGN</a:t>
            </a:r>
          </a:p>
          <a:p>
            <a:pPr algn="l">
              <a:spcAft>
                <a:spcPts val="100"/>
              </a:spcAft>
            </a:pPr>
            <a:r>
              <a:rPr sz="1019" b="1">
                <a:solidFill>
                  <a:srgbClr val="1A1D23"/>
                </a:solidFill>
                <a:latin typeface="Verdana"/>
              </a:rPr>
              <a:t>We were measuring the sampler, not the event.</a:t>
            </a:r>
          </a:p>
          <a:p>
            <a:pPr algn="l">
              <a:spcAft>
                <a:spcPts val="900"/>
              </a:spcAft>
            </a:pPr>
            <a:r>
              <a:rPr sz="950" b="0">
                <a:solidFill>
                  <a:srgbClr val="5B6472"/>
                </a:solidFill>
                <a:latin typeface="Verdana"/>
              </a:rPr>
              <a:t>Predicted events had a median length of 1.5 s; real ones last 20 s. We were reporting the width of a sampling window as the duration of an incident, so IoU &gt;= 0.5 was unreachable and 75 of the 100 marks were out of reach. Walking the health curve outward to find where the scene returns to normal moved matches from 0 to 2.</a:t>
            </a:r>
          </a:p>
          <a:p>
            <a:pPr algn="l">
              <a:spcAft>
                <a:spcPts val="100"/>
              </a:spcAft>
            </a:pPr>
            <a:r>
              <a:rPr sz="1019" b="1">
                <a:solidFill>
                  <a:srgbClr val="1A1D23"/>
                </a:solidFill>
                <a:latin typeface="Verdana"/>
              </a:rPr>
              <a:t>Coverage was a silent killer.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B6472"/>
                </a:solidFill>
                <a:latin typeface="Verdana"/>
              </a:rPr>
              <a:t>The threshold was calibrated on 5-30 s clips, then applied to 240-629 s videos from other cameras. Nine of 34 videos got zero VLM looks; seven were genuinely anomalous, 41% of all misses. A scan floor plus a guaranteed last-resort look took that to zero.</a:t>
            </a:r>
          </a:p>
        </p:txBody>
      </p:sp>
      <p:pic>
        <p:nvPicPr>
          <p:cNvPr id="9" name="Picture 8" descr="cover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803904"/>
            <a:ext cx="5486400" cy="149629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63640" y="5413248"/>
            <a:ext cx="5486400" cy="10972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5541264"/>
            <a:ext cx="5486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>
                <a:solidFill>
                  <a:srgbClr val="B91C1C"/>
                </a:solidFill>
                <a:latin typeface="Verdana"/>
              </a:rPr>
              <a:t>THE REAL BOTTLENECK, AND WHAT WE WOULD DO NEXT</a:t>
            </a:r>
          </a:p>
          <a:p>
            <a:pPr algn="l">
              <a:spcAft>
                <a:spcPts val="0"/>
              </a:spcAft>
            </a:pPr>
            <a:r>
              <a:rPr sz="919" b="0">
                <a:solidFill>
                  <a:srgbClr val="5B6472"/>
                </a:solidFill>
                <a:latin typeface="Verdana"/>
              </a:rPr>
              <a:t>Six of the eight high-value videos returned normal on every window - one on all 35 looks, 26 of which stage 1 had flagged as its most abnormal. The cause is measurable: the median clip we hand the VLM is 2 s wide, judging classes defined by persistence over 20 s. Next: widen stage-2 windows to ~20 s (fewer, cheaper calls), then derive confidence from self-consistency, because every non-normal verdict came back at exactly 0.95 or 0.98 - our thresholds have never once been exercised.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