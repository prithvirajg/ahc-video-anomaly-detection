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4864"/>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75488" y="237744"/>
            <a:ext cx="11247120" cy="274320"/>
          </a:xfrm>
          <a:prstGeom prst="rect">
            <a:avLst/>
          </a:prstGeom>
          <a:noFill/>
        </p:spPr>
        <p:txBody>
          <a:bodyPr wrap="square" lIns="0" rIns="0" tIns="0" bIns="0">
            <a:spAutoFit/>
          </a:bodyPr>
          <a:lstStyle/>
          <a:p>
            <a:pPr algn="l">
              <a:spcAft>
                <a:spcPts val="400"/>
              </a:spcAft>
            </a:pPr>
            <a:r>
              <a:rPr sz="950" b="1">
                <a:solidFill>
                  <a:srgbClr val="D97706"/>
                </a:solidFill>
                <a:latin typeface="Verdana"/>
              </a:rPr>
              <a:t>AHC VISUAL INTELLIGENCE HACKATHON</a:t>
            </a:r>
          </a:p>
        </p:txBody>
      </p:sp>
      <p:sp>
        <p:nvSpPr>
          <p:cNvPr id="5" name="TextBox 4"/>
          <p:cNvSpPr txBox="1"/>
          <p:nvPr/>
        </p:nvSpPr>
        <p:spPr>
          <a:xfrm>
            <a:off x="457200" y="475488"/>
            <a:ext cx="11247120" cy="457200"/>
          </a:xfrm>
          <a:prstGeom prst="rect">
            <a:avLst/>
          </a:prstGeom>
          <a:noFill/>
        </p:spPr>
        <p:txBody>
          <a:bodyPr wrap="square" lIns="0" rIns="0" tIns="0" bIns="0">
            <a:spAutoFit/>
          </a:bodyPr>
          <a:lstStyle/>
          <a:p>
            <a:pPr algn="l">
              <a:spcAft>
                <a:spcPts val="400"/>
              </a:spcAft>
            </a:pPr>
            <a:r>
              <a:rPr sz="2300" b="1">
                <a:solidFill>
                  <a:srgbClr val="1A1D23"/>
                </a:solidFill>
                <a:latin typeface="Verdana"/>
              </a:rPr>
              <a:t>Real-time anomaly detection without training a single weight</a:t>
            </a:r>
          </a:p>
        </p:txBody>
      </p:sp>
      <p:pic>
        <p:nvPicPr>
          <p:cNvPr id="6" name="Picture 5" descr="cascade.png"/>
          <p:cNvPicPr>
            <a:picLocks noChangeAspect="1"/>
          </p:cNvPicPr>
          <p:nvPr/>
        </p:nvPicPr>
        <p:blipFill>
          <a:blip r:embed="rId2"/>
          <a:stretch>
            <a:fillRect/>
          </a:stretch>
        </p:blipFill>
        <p:spPr>
          <a:xfrm>
            <a:off x="457200" y="1170432"/>
            <a:ext cx="6537960" cy="3021330"/>
          </a:xfrm>
          <a:prstGeom prst="rect">
            <a:avLst/>
          </a:prstGeom>
        </p:spPr>
      </p:pic>
      <p:sp>
        <p:nvSpPr>
          <p:cNvPr id="7" name="TextBox 6"/>
          <p:cNvSpPr txBox="1"/>
          <p:nvPr/>
        </p:nvSpPr>
        <p:spPr>
          <a:xfrm>
            <a:off x="7315200" y="1207008"/>
            <a:ext cx="4434840" cy="4023360"/>
          </a:xfrm>
          <a:prstGeom prst="rect">
            <a:avLst/>
          </a:prstGeom>
          <a:noFill/>
        </p:spPr>
        <p:txBody>
          <a:bodyPr wrap="square" lIns="0" rIns="0" tIns="0" bIns="0">
            <a:spAutoFit/>
          </a:bodyPr>
          <a:lstStyle/>
          <a:p>
            <a:pPr algn="l">
              <a:spcAft>
                <a:spcPts val="700"/>
              </a:spcAft>
            </a:pPr>
            <a:r>
              <a:rPr sz="950" b="1">
                <a:solidFill>
                  <a:srgbClr val="D97706"/>
                </a:solidFill>
                <a:latin typeface="Verdana"/>
              </a:rPr>
              <a:t>MODEL CHOICES, AND WHY</a:t>
            </a:r>
          </a:p>
          <a:p>
            <a:pPr algn="l">
              <a:spcAft>
                <a:spcPts val="100"/>
              </a:spcAft>
            </a:pPr>
            <a:r>
              <a:rPr sz="1150" b="1">
                <a:solidFill>
                  <a:srgbClr val="1A1D23"/>
                </a:solidFill>
                <a:latin typeface="Verdana"/>
              </a:rPr>
              <a:t>SigLIP2-base as the filter</a:t>
            </a:r>
          </a:p>
          <a:p>
            <a:pPr algn="l">
              <a:spcAft>
                <a:spcPts val="900"/>
              </a:spcAft>
            </a:pPr>
            <a:r>
              <a:rPr sz="960" b="0">
                <a:solidFill>
                  <a:srgbClr val="5B6472"/>
                </a:solidFill>
                <a:latin typeface="Verdana"/>
              </a:rPr>
              <a:t>Scores every surviving frame against 30 written normal rules (+1) and 63 perturbed actions (-1). A sigmoid encoder gives calibrated per-pair scores, so the sum is meaningful; CLIP softmax only ranks.</a:t>
            </a:r>
          </a:p>
          <a:p>
            <a:pPr algn="l">
              <a:spcAft>
                <a:spcPts val="100"/>
              </a:spcAft>
            </a:pPr>
            <a:r>
              <a:rPr sz="1150" b="1">
                <a:solidFill>
                  <a:srgbClr val="1A1D23"/>
                </a:solidFill>
                <a:latin typeface="Verdana"/>
              </a:rPr>
              <a:t>Qwen3-VL-4B-Instruct as the judge</a:t>
            </a:r>
          </a:p>
          <a:p>
            <a:pPr algn="l">
              <a:spcAft>
                <a:spcPts val="900"/>
              </a:spcAft>
            </a:pPr>
            <a:r>
              <a:rPr sz="960" b="0">
                <a:solidFill>
                  <a:srgbClr val="5B6472"/>
                </a:solidFill>
                <a:latin typeface="Verdana"/>
              </a:rPr>
              <a:t>Chosen over the 3B once the T4 16 GB removed the VRAM constraint. Independently validated for this task: QVAD uses it, and Qwen3-VL took 2nd/3rd in AI City Challenge 2026 Track 3.</a:t>
            </a:r>
          </a:p>
          <a:p>
            <a:pPr algn="l">
              <a:spcAft>
                <a:spcPts val="100"/>
              </a:spcAft>
            </a:pPr>
            <a:r>
              <a:rPr sz="1150" b="1">
                <a:solidFill>
                  <a:srgbClr val="1A1D23"/>
                </a:solidFill>
                <a:latin typeface="Verdana"/>
              </a:rPr>
              <a:t>Zero training anywhere</a:t>
            </a:r>
          </a:p>
          <a:p>
            <a:pPr algn="l">
              <a:spcAft>
                <a:spcPts val="0"/>
              </a:spcAft>
            </a:pPr>
            <a:r>
              <a:rPr sz="960" b="0">
                <a:solidFill>
                  <a:srgbClr val="5B6472"/>
                </a:solidFill>
                <a:latin typeface="Verdana"/>
              </a:rPr>
              <a:t>Both models are frozen and zero-shot. The only fitted number in the system is one health threshold, calibrated on known-normal clips.</a:t>
            </a:r>
          </a:p>
        </p:txBody>
      </p:sp>
      <p:sp>
        <p:nvSpPr>
          <p:cNvPr id="8" name="Rectangle 7"/>
          <p:cNvSpPr/>
          <p:nvPr/>
        </p:nvSpPr>
        <p:spPr>
          <a:xfrm>
            <a:off x="457200" y="5413248"/>
            <a:ext cx="11274552" cy="10972"/>
          </a:xfrm>
          <a:prstGeom prst="rect">
            <a:avLst/>
          </a:prstGeom>
          <a:solidFill>
            <a:srgbClr val="D8D6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5596128"/>
            <a:ext cx="2148840" cy="411480"/>
          </a:xfrm>
          <a:prstGeom prst="rect">
            <a:avLst/>
          </a:prstGeom>
          <a:noFill/>
        </p:spPr>
        <p:txBody>
          <a:bodyPr wrap="square" lIns="0" rIns="0" tIns="0" bIns="0">
            <a:spAutoFit/>
          </a:bodyPr>
          <a:lstStyle/>
          <a:p>
            <a:pPr algn="l">
              <a:spcAft>
                <a:spcPts val="400"/>
              </a:spcAft>
            </a:pPr>
            <a:r>
              <a:rPr sz="2100" b="1">
                <a:solidFill>
                  <a:srgbClr val="0F766E"/>
                </a:solidFill>
                <a:latin typeface="Verdana"/>
              </a:rPr>
              <a:t>0 / 6</a:t>
            </a:r>
          </a:p>
        </p:txBody>
      </p:sp>
      <p:sp>
        <p:nvSpPr>
          <p:cNvPr id="10" name="TextBox 9"/>
          <p:cNvSpPr txBox="1"/>
          <p:nvPr/>
        </p:nvSpPr>
        <p:spPr>
          <a:xfrm>
            <a:off x="457200" y="6053328"/>
            <a:ext cx="2148840" cy="548640"/>
          </a:xfrm>
          <a:prstGeom prst="rect">
            <a:avLst/>
          </a:prstGeom>
          <a:noFill/>
        </p:spPr>
        <p:txBody>
          <a:bodyPr wrap="square" lIns="0" rIns="0" tIns="0" bIns="0">
            <a:spAutoFit/>
          </a:bodyPr>
          <a:lstStyle/>
          <a:p>
            <a:pPr algn="l">
              <a:spcAft>
                <a:spcPts val="400"/>
              </a:spcAft>
            </a:pPr>
            <a:r>
              <a:rPr sz="860" b="0">
                <a:solidFill>
                  <a:srgbClr val="5B6472"/>
                </a:solidFill>
                <a:latin typeface="Verdana"/>
              </a:rPr>
              <a:t>false alarms on normal
videos, every run</a:t>
            </a:r>
          </a:p>
        </p:txBody>
      </p:sp>
      <p:sp>
        <p:nvSpPr>
          <p:cNvPr id="11" name="TextBox 10"/>
          <p:cNvSpPr txBox="1"/>
          <p:nvPr/>
        </p:nvSpPr>
        <p:spPr>
          <a:xfrm>
            <a:off x="2724912" y="5596128"/>
            <a:ext cx="2148840" cy="411480"/>
          </a:xfrm>
          <a:prstGeom prst="rect">
            <a:avLst/>
          </a:prstGeom>
          <a:noFill/>
        </p:spPr>
        <p:txBody>
          <a:bodyPr wrap="square" lIns="0" rIns="0" tIns="0" bIns="0">
            <a:spAutoFit/>
          </a:bodyPr>
          <a:lstStyle/>
          <a:p>
            <a:pPr algn="l">
              <a:spcAft>
                <a:spcPts val="400"/>
              </a:spcAft>
            </a:pPr>
            <a:r>
              <a:rPr sz="2100" b="1">
                <a:solidFill>
                  <a:srgbClr val="0F766E"/>
                </a:solidFill>
                <a:latin typeface="Verdana"/>
              </a:rPr>
              <a:t>2.7x</a:t>
            </a:r>
          </a:p>
        </p:txBody>
      </p:sp>
      <p:sp>
        <p:nvSpPr>
          <p:cNvPr id="12" name="TextBox 11"/>
          <p:cNvSpPr txBox="1"/>
          <p:nvPr/>
        </p:nvSpPr>
        <p:spPr>
          <a:xfrm>
            <a:off x="2724912" y="6053328"/>
            <a:ext cx="2148840" cy="548640"/>
          </a:xfrm>
          <a:prstGeom prst="rect">
            <a:avLst/>
          </a:prstGeom>
          <a:noFill/>
        </p:spPr>
        <p:txBody>
          <a:bodyPr wrap="square" lIns="0" rIns="0" tIns="0" bIns="0">
            <a:spAutoFit/>
          </a:bodyPr>
          <a:lstStyle/>
          <a:p>
            <a:pPr algn="l">
              <a:spcAft>
                <a:spcPts val="400"/>
              </a:spcAft>
            </a:pPr>
            <a:r>
              <a:rPr sz="860" b="0">
                <a:solidFill>
                  <a:srgbClr val="5B6472"/>
                </a:solidFill>
                <a:latin typeface="Verdana"/>
              </a:rPr>
              <a:t>faster than realtime
on one T4 GPU</a:t>
            </a:r>
          </a:p>
        </p:txBody>
      </p:sp>
      <p:sp>
        <p:nvSpPr>
          <p:cNvPr id="13" name="TextBox 12"/>
          <p:cNvSpPr txBox="1"/>
          <p:nvPr/>
        </p:nvSpPr>
        <p:spPr>
          <a:xfrm>
            <a:off x="4992624" y="5596128"/>
            <a:ext cx="2148840" cy="411480"/>
          </a:xfrm>
          <a:prstGeom prst="rect">
            <a:avLst/>
          </a:prstGeom>
          <a:noFill/>
        </p:spPr>
        <p:txBody>
          <a:bodyPr wrap="square" lIns="0" rIns="0" tIns="0" bIns="0">
            <a:spAutoFit/>
          </a:bodyPr>
          <a:lstStyle/>
          <a:p>
            <a:pPr algn="l">
              <a:spcAft>
                <a:spcPts val="400"/>
              </a:spcAft>
            </a:pPr>
            <a:r>
              <a:rPr sz="2100" b="1">
                <a:solidFill>
                  <a:srgbClr val="0F766E"/>
                </a:solidFill>
                <a:latin typeface="Verdana"/>
              </a:rPr>
              <a:t>88%</a:t>
            </a:r>
          </a:p>
        </p:txBody>
      </p:sp>
      <p:sp>
        <p:nvSpPr>
          <p:cNvPr id="14" name="TextBox 13"/>
          <p:cNvSpPr txBox="1"/>
          <p:nvPr/>
        </p:nvSpPr>
        <p:spPr>
          <a:xfrm>
            <a:off x="4992624" y="6053328"/>
            <a:ext cx="2148840" cy="548640"/>
          </a:xfrm>
          <a:prstGeom prst="rect">
            <a:avLst/>
          </a:prstGeom>
          <a:noFill/>
        </p:spPr>
        <p:txBody>
          <a:bodyPr wrap="square" lIns="0" rIns="0" tIns="0" bIns="0">
            <a:spAutoFit/>
          </a:bodyPr>
          <a:lstStyle/>
          <a:p>
            <a:pPr algn="l">
              <a:spcAft>
                <a:spcPts val="400"/>
              </a:spcAft>
            </a:pPr>
            <a:r>
              <a:rPr sz="860" b="0">
                <a:solidFill>
                  <a:srgbClr val="5B6472"/>
                </a:solidFill>
                <a:latin typeface="Verdana"/>
              </a:rPr>
              <a:t>of frames never
reach the VLM</a:t>
            </a:r>
          </a:p>
        </p:txBody>
      </p:sp>
      <p:sp>
        <p:nvSpPr>
          <p:cNvPr id="15" name="TextBox 14"/>
          <p:cNvSpPr txBox="1"/>
          <p:nvPr/>
        </p:nvSpPr>
        <p:spPr>
          <a:xfrm>
            <a:off x="7260336" y="5596128"/>
            <a:ext cx="2148840" cy="411480"/>
          </a:xfrm>
          <a:prstGeom prst="rect">
            <a:avLst/>
          </a:prstGeom>
          <a:noFill/>
        </p:spPr>
        <p:txBody>
          <a:bodyPr wrap="square" lIns="0" rIns="0" tIns="0" bIns="0">
            <a:spAutoFit/>
          </a:bodyPr>
          <a:lstStyle/>
          <a:p>
            <a:pPr algn="l">
              <a:spcAft>
                <a:spcPts val="400"/>
              </a:spcAft>
            </a:pPr>
            <a:r>
              <a:rPr sz="2100" b="1">
                <a:solidFill>
                  <a:srgbClr val="0F766E"/>
                </a:solidFill>
                <a:latin typeface="Verdana"/>
              </a:rPr>
              <a:t>3,207</a:t>
            </a:r>
          </a:p>
        </p:txBody>
      </p:sp>
      <p:sp>
        <p:nvSpPr>
          <p:cNvPr id="16" name="TextBox 15"/>
          <p:cNvSpPr txBox="1"/>
          <p:nvPr/>
        </p:nvSpPr>
        <p:spPr>
          <a:xfrm>
            <a:off x="7260336" y="6053328"/>
            <a:ext cx="2148840" cy="548640"/>
          </a:xfrm>
          <a:prstGeom prst="rect">
            <a:avLst/>
          </a:prstGeom>
          <a:noFill/>
        </p:spPr>
        <p:txBody>
          <a:bodyPr wrap="square" lIns="0" rIns="0" tIns="0" bIns="0">
            <a:spAutoFit/>
          </a:bodyPr>
          <a:lstStyle/>
          <a:p>
            <a:pPr algn="l">
              <a:spcAft>
                <a:spcPts val="400"/>
              </a:spcAft>
            </a:pPr>
            <a:r>
              <a:rPr sz="860" b="0">
                <a:solidFill>
                  <a:srgbClr val="5B6472"/>
                </a:solidFill>
                <a:latin typeface="Verdana"/>
              </a:rPr>
              <a:t>clips indexed across
8 split archives</a:t>
            </a:r>
          </a:p>
        </p:txBody>
      </p:sp>
      <p:sp>
        <p:nvSpPr>
          <p:cNvPr id="17" name="TextBox 16"/>
          <p:cNvSpPr txBox="1"/>
          <p:nvPr/>
        </p:nvSpPr>
        <p:spPr>
          <a:xfrm>
            <a:off x="9528048" y="5596128"/>
            <a:ext cx="2148840" cy="411480"/>
          </a:xfrm>
          <a:prstGeom prst="rect">
            <a:avLst/>
          </a:prstGeom>
          <a:noFill/>
        </p:spPr>
        <p:txBody>
          <a:bodyPr wrap="square" lIns="0" rIns="0" tIns="0" bIns="0">
            <a:spAutoFit/>
          </a:bodyPr>
          <a:lstStyle/>
          <a:p>
            <a:pPr algn="l">
              <a:spcAft>
                <a:spcPts val="400"/>
              </a:spcAft>
            </a:pPr>
            <a:r>
              <a:rPr sz="2100" b="1">
                <a:solidFill>
                  <a:srgbClr val="0F766E"/>
                </a:solidFill>
                <a:latin typeface="Verdana"/>
              </a:rPr>
              <a:t>28</a:t>
            </a:r>
          </a:p>
        </p:txBody>
      </p:sp>
      <p:sp>
        <p:nvSpPr>
          <p:cNvPr id="18" name="TextBox 17"/>
          <p:cNvSpPr txBox="1"/>
          <p:nvPr/>
        </p:nvSpPr>
        <p:spPr>
          <a:xfrm>
            <a:off x="9528048" y="6053328"/>
            <a:ext cx="2148840" cy="548640"/>
          </a:xfrm>
          <a:prstGeom prst="rect">
            <a:avLst/>
          </a:prstGeom>
          <a:noFill/>
        </p:spPr>
        <p:txBody>
          <a:bodyPr wrap="square" lIns="0" rIns="0" tIns="0" bIns="0">
            <a:spAutoFit/>
          </a:bodyPr>
          <a:lstStyle/>
          <a:p>
            <a:pPr algn="l">
              <a:spcAft>
                <a:spcPts val="400"/>
              </a:spcAft>
            </a:pPr>
            <a:r>
              <a:rPr sz="860" b="0">
                <a:solidFill>
                  <a:srgbClr val="5B6472"/>
                </a:solidFill>
                <a:latin typeface="Verdana"/>
              </a:rPr>
              <a:t>blind eval videos,
all answered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4864"/>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75488" y="237744"/>
            <a:ext cx="11247120" cy="274320"/>
          </a:xfrm>
          <a:prstGeom prst="rect">
            <a:avLst/>
          </a:prstGeom>
          <a:noFill/>
        </p:spPr>
        <p:txBody>
          <a:bodyPr wrap="square" lIns="0" rIns="0" tIns="0" bIns="0">
            <a:spAutoFit/>
          </a:bodyPr>
          <a:lstStyle/>
          <a:p>
            <a:pPr algn="l">
              <a:spcAft>
                <a:spcPts val="400"/>
              </a:spcAft>
            </a:pPr>
            <a:r>
              <a:rPr sz="950" b="1">
                <a:solidFill>
                  <a:srgbClr val="D97706"/>
                </a:solidFill>
                <a:latin typeface="Verdana"/>
              </a:rPr>
              <a:t>WHAT WE LEARNED</a:t>
            </a:r>
          </a:p>
        </p:txBody>
      </p:sp>
      <p:sp>
        <p:nvSpPr>
          <p:cNvPr id="5" name="TextBox 4"/>
          <p:cNvSpPr txBox="1"/>
          <p:nvPr/>
        </p:nvSpPr>
        <p:spPr>
          <a:xfrm>
            <a:off x="457200" y="475488"/>
            <a:ext cx="11247120" cy="457200"/>
          </a:xfrm>
          <a:prstGeom prst="rect">
            <a:avLst/>
          </a:prstGeom>
          <a:noFill/>
        </p:spPr>
        <p:txBody>
          <a:bodyPr wrap="square" lIns="0" rIns="0" tIns="0" bIns="0">
            <a:spAutoFit/>
          </a:bodyPr>
          <a:lstStyle/>
          <a:p>
            <a:pPr algn="l">
              <a:spcAft>
                <a:spcPts val="400"/>
              </a:spcAft>
            </a:pPr>
            <a:r>
              <a:rPr sz="2300" b="1">
                <a:solidFill>
                  <a:srgbClr val="1A1D23"/>
                </a:solidFill>
                <a:latin typeface="Verdana"/>
              </a:rPr>
              <a:t>Four experiments, three that worked, one that did not</a:t>
            </a:r>
          </a:p>
        </p:txBody>
      </p:sp>
      <p:pic>
        <p:nvPicPr>
          <p:cNvPr id="6" name="Picture 5" descr="progression.png"/>
          <p:cNvPicPr>
            <a:picLocks noChangeAspect="1"/>
          </p:cNvPicPr>
          <p:nvPr/>
        </p:nvPicPr>
        <p:blipFill>
          <a:blip r:embed="rId2"/>
          <a:stretch>
            <a:fillRect/>
          </a:stretch>
        </p:blipFill>
        <p:spPr>
          <a:xfrm>
            <a:off x="411480" y="1133856"/>
            <a:ext cx="5577840" cy="2890335"/>
          </a:xfrm>
          <a:prstGeom prst="rect">
            <a:avLst/>
          </a:prstGeom>
        </p:spPr>
      </p:pic>
      <p:pic>
        <p:nvPicPr>
          <p:cNvPr id="7" name="Picture 6" descr="duration.png"/>
          <p:cNvPicPr>
            <a:picLocks noChangeAspect="1"/>
          </p:cNvPicPr>
          <p:nvPr/>
        </p:nvPicPr>
        <p:blipFill>
          <a:blip r:embed="rId3"/>
          <a:stretch>
            <a:fillRect/>
          </a:stretch>
        </p:blipFill>
        <p:spPr>
          <a:xfrm>
            <a:off x="411480" y="3703320"/>
            <a:ext cx="5577840" cy="2535382"/>
          </a:xfrm>
          <a:prstGeom prst="rect">
            <a:avLst/>
          </a:prstGeom>
        </p:spPr>
      </p:pic>
      <p:sp>
        <p:nvSpPr>
          <p:cNvPr id="8" name="TextBox 7"/>
          <p:cNvSpPr txBox="1"/>
          <p:nvPr/>
        </p:nvSpPr>
        <p:spPr>
          <a:xfrm>
            <a:off x="6263640" y="1188720"/>
            <a:ext cx="5486400" cy="5120640"/>
          </a:xfrm>
          <a:prstGeom prst="rect">
            <a:avLst/>
          </a:prstGeom>
          <a:noFill/>
        </p:spPr>
        <p:txBody>
          <a:bodyPr wrap="square" lIns="0" rIns="0" tIns="0" bIns="0">
            <a:spAutoFit/>
          </a:bodyPr>
          <a:lstStyle/>
          <a:p>
            <a:pPr algn="l">
              <a:spcAft>
                <a:spcPts val="700"/>
              </a:spcAft>
            </a:pPr>
            <a:r>
              <a:rPr sz="950" b="1">
                <a:solidFill>
                  <a:srgbClr val="D97706"/>
                </a:solidFill>
                <a:latin typeface="Verdana"/>
              </a:rPr>
              <a:t>THE FINDING THAT MATTERED MOST</a:t>
            </a:r>
          </a:p>
          <a:p>
            <a:pPr algn="l">
              <a:spcAft>
                <a:spcPts val="1100"/>
              </a:spcAft>
            </a:pPr>
            <a:r>
              <a:rPr sz="980" b="0">
                <a:solidFill>
                  <a:srgbClr val="5B6472"/>
                </a:solidFill>
                <a:latin typeface="Verdana"/>
              </a:rPr>
              <a:t>Our predicted events had a median length of 1.5 s. Real events have a median of 20 s. We were reporting the width of a sampling window as the duration of an incident, so IoU &gt;= 0.5 was unreachable and 75 of the 100 marks were mathematically out of reach. Walking the health curve outward from each detection, to find where the scene returns to normal, moved IoU matches from 0 to 2.</a:t>
            </a:r>
          </a:p>
          <a:p>
            <a:pPr algn="l">
              <a:spcAft>
                <a:spcPts val="700"/>
              </a:spcAft>
            </a:pPr>
            <a:r>
              <a:rPr sz="950" b="1">
                <a:solidFill>
                  <a:srgbClr val="D97706"/>
                </a:solidFill>
                <a:latin typeface="Verdana"/>
              </a:rPr>
              <a:t>COVERAGE WAS A SILENT KILLER</a:t>
            </a:r>
          </a:p>
          <a:p>
            <a:pPr algn="l">
              <a:spcAft>
                <a:spcPts val="1100"/>
              </a:spcAft>
            </a:pPr>
            <a:r>
              <a:rPr sz="980" b="0">
                <a:solidFill>
                  <a:srgbClr val="5B6472"/>
                </a:solidFill>
                <a:latin typeface="Verdana"/>
              </a:rPr>
              <a:t>The health threshold was calibrated on 5-30 s clips, then applied to 240-629 s videos from different cameras. Nine of 34 videos got zero VLM looks; seven were genuinely anomalous, 41% of all our misses. A periodic scan floor plus a guaranteed last-resort look took that to zero.</a:t>
            </a:r>
          </a:p>
        </p:txBody>
      </p:sp>
      <p:pic>
        <p:nvPicPr>
          <p:cNvPr id="9" name="Picture 8" descr="coverage.png"/>
          <p:cNvPicPr>
            <a:picLocks noChangeAspect="1"/>
          </p:cNvPicPr>
          <p:nvPr/>
        </p:nvPicPr>
        <p:blipFill>
          <a:blip r:embed="rId4"/>
          <a:stretch>
            <a:fillRect/>
          </a:stretch>
        </p:blipFill>
        <p:spPr>
          <a:xfrm>
            <a:off x="6263640" y="3913632"/>
            <a:ext cx="5486400" cy="1496291"/>
          </a:xfrm>
          <a:prstGeom prst="rect">
            <a:avLst/>
          </a:prstGeom>
        </p:spPr>
      </p:pic>
      <p:sp>
        <p:nvSpPr>
          <p:cNvPr id="10" name="Rectangle 9"/>
          <p:cNvSpPr/>
          <p:nvPr/>
        </p:nvSpPr>
        <p:spPr>
          <a:xfrm>
            <a:off x="6263640" y="5138928"/>
            <a:ext cx="5486400" cy="10972"/>
          </a:xfrm>
          <a:prstGeom prst="rect">
            <a:avLst/>
          </a:prstGeom>
          <a:solidFill>
            <a:srgbClr val="D8D6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263640" y="5285232"/>
            <a:ext cx="5486400" cy="1280160"/>
          </a:xfrm>
          <a:prstGeom prst="rect">
            <a:avLst/>
          </a:prstGeom>
          <a:noFill/>
        </p:spPr>
        <p:txBody>
          <a:bodyPr wrap="square" lIns="0" rIns="0" tIns="0" bIns="0">
            <a:spAutoFit/>
          </a:bodyPr>
          <a:lstStyle/>
          <a:p>
            <a:pPr algn="l">
              <a:spcAft>
                <a:spcPts val="600"/>
              </a:spcAft>
            </a:pPr>
            <a:r>
              <a:rPr sz="950" b="1">
                <a:solidFill>
                  <a:srgbClr val="B91C1C"/>
                </a:solidFill>
                <a:latin typeface="Verdana"/>
              </a:rPr>
              <a:t>WHAT IS STILL BROKEN, HONESTLY</a:t>
            </a:r>
          </a:p>
          <a:p>
            <a:pPr algn="l">
              <a:spcAft>
                <a:spcPts val="0"/>
              </a:spcAft>
            </a:pPr>
            <a:r>
              <a:rPr sz="950" b="0">
                <a:solidFill>
                  <a:srgbClr val="5B6472"/>
                </a:solidFill>
                <a:latin typeface="Verdana"/>
              </a:rPr>
              <a:t>Stage 2 is now the wall. On the blind set, six of the eight high-value L2/L3 videos returned normal on every window, one of them on all 35 looks, 26 of which stage 1 had flagged as its most abnormal frames. Every non-normal verdict came back at exactly 0.95 or 0.98, so our confidence thresholds have never once been exercised. The next move is prompting, not plumbing.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