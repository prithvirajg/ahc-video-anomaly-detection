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E8A33D"/>
                </a:solidFill>
                <a:latin typeface="Consolas"/>
              </a:rPr>
              <a:t>AHC VISUAL INTELLIGENCE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6DC"/>
                </a:solidFill>
                <a:latin typeface="Calibri"/>
              </a:rPr>
              <a:t>A three-tier cascade for real-time video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8961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B9A8C"/>
                </a:solidFill>
                <a:latin typeface="Calibri"/>
              </a:rPr>
              <a:t>Hosted models help build it, never run inside it. False alarms cost as much as misses. Everything below is zero-shot, nothing fine-tuned, one Kaggle T4.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48840"/>
            <a:ext cx="2331720" cy="1508760"/>
          </a:xfrm>
          <a:prstGeom prst="rect">
            <a:avLst/>
          </a:prstGeom>
          <a:solidFill>
            <a:srgbClr val="1A1B15"/>
          </a:solidFill>
          <a:ln w="9525">
            <a:solidFill>
              <a:srgbClr val="343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6DC"/>
                </a:solidFill>
                <a:latin typeface="Consolas"/>
              </a:rPr>
              <a:t>0 · MOTION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87752"/>
            <a:ext cx="2057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B9A8C"/>
                </a:solidFill>
                <a:latin typeface="Calibri"/>
              </a:rPr>
              <a:t>frame-diff @ 2fps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9B9A8C"/>
                </a:solidFill>
                <a:latin typeface="Calibri"/>
              </a:rPr>
              <a:t>keepalive every 4s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6499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A33D"/>
                </a:solidFill>
                <a:latin typeface="Consolas"/>
              </a:rPr>
              <a:t>~50% dropped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62071" y="2903220"/>
            <a:ext cx="265177" cy="0"/>
          </a:xfrm>
          <a:prstGeom prst="line">
            <a:avLst/>
          </a:prstGeom>
          <a:ln w="19050">
            <a:solidFill>
              <a:srgbClr val="9B9A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154680" y="2148840"/>
            <a:ext cx="2331720" cy="1508760"/>
          </a:xfrm>
          <a:prstGeom prst="rect">
            <a:avLst/>
          </a:prstGeom>
          <a:solidFill>
            <a:srgbClr val="1A1B15"/>
          </a:solidFill>
          <a:ln w="9525">
            <a:solidFill>
              <a:srgbClr val="343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24028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6DC"/>
                </a:solidFill>
                <a:latin typeface="Consolas"/>
              </a:rPr>
              <a:t>1 · SigLIP2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587752"/>
            <a:ext cx="2057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B9A8C"/>
                </a:solidFill>
                <a:latin typeface="Calibri"/>
              </a:rPr>
              <a:t>375M, frozen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9B9A8C"/>
                </a:solidFill>
                <a:latin typeface="Calibri"/>
              </a:rPr>
              <a:t>health = Σ w·sim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36499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A33D"/>
                </a:solidFill>
                <a:latin typeface="Consolas"/>
              </a:rPr>
              <a:t>~12% escalate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13832" y="2903220"/>
            <a:ext cx="265175" cy="0"/>
          </a:xfrm>
          <a:prstGeom prst="line">
            <a:avLst/>
          </a:prstGeom>
          <a:ln w="19050">
            <a:solidFill>
              <a:srgbClr val="9B9A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806440" y="2148840"/>
            <a:ext cx="2331720" cy="1508760"/>
          </a:xfrm>
          <a:prstGeom prst="rect">
            <a:avLst/>
          </a:prstGeom>
          <a:solidFill>
            <a:srgbClr val="1A1B15"/>
          </a:solidFill>
          <a:ln w="9525">
            <a:solidFill>
              <a:srgbClr val="343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224028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6DC"/>
                </a:solidFill>
                <a:latin typeface="Consolas"/>
              </a:rPr>
              <a:t>2 · Qwen3-VL-4B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587752"/>
            <a:ext cx="2057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B9A8C"/>
                </a:solidFill>
                <a:latin typeface="Calibri"/>
              </a:rPr>
              <a:t>frozen, zero-shot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9B9A8C"/>
                </a:solidFill>
                <a:latin typeface="Calibri"/>
              </a:rPr>
              <a:t>ASK-Hint prompts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36499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A33D"/>
                </a:solidFill>
                <a:latin typeface="Consolas"/>
              </a:rPr>
              <a:t>~5.4GB VRAM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65591" y="2903220"/>
            <a:ext cx="265176" cy="0"/>
          </a:xfrm>
          <a:prstGeom prst="line">
            <a:avLst/>
          </a:prstGeom>
          <a:ln w="19050">
            <a:solidFill>
              <a:srgbClr val="9B9A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458200" y="2148840"/>
            <a:ext cx="2331720" cy="1508760"/>
          </a:xfrm>
          <a:prstGeom prst="rect">
            <a:avLst/>
          </a:prstGeom>
          <a:solidFill>
            <a:srgbClr val="1A1B15"/>
          </a:solidFill>
          <a:ln w="9525">
            <a:solidFill>
              <a:srgbClr val="343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2240280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8E6DC"/>
                </a:solidFill>
                <a:latin typeface="Consolas"/>
              </a:rPr>
              <a:t>3 · AGGREGATE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587752"/>
            <a:ext cx="20574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B9A8C"/>
                </a:solidFill>
                <a:latin typeface="Calibri"/>
              </a:rPr>
              <a:t>per-class duration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9B9A8C"/>
                </a:solidFill>
                <a:latin typeface="Calibri"/>
              </a:rPr>
              <a:t>hysteresis, no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36499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E8A33D"/>
                </a:solidFill>
                <a:latin typeface="Consolas"/>
              </a:rPr>
              <a:t>→ timed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886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B9A8C"/>
                </a:solidFill>
                <a:latin typeface="Consolas"/>
              </a:rPr>
              <a:t>stages 0–1 run per frame · stage 2 runs per escalated window, never per frame · stage 3 runs once per clip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72000"/>
            <a:ext cx="2606040" cy="1234440"/>
          </a:xfrm>
          <a:prstGeom prst="rect">
            <a:avLst/>
          </a:prstGeom>
          <a:solidFill>
            <a:srgbClr val="1A1B15"/>
          </a:solidFill>
          <a:ln w="9525">
            <a:solidFill>
              <a:srgbClr val="343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4700016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9B9A8C"/>
                </a:solidFill>
                <a:latin typeface="Consolas"/>
              </a:rPr>
              <a:t>PRECISION (L1)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" y="4956048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5FB896"/>
                </a:solidFill>
                <a:latin typeface="Consolas"/>
              </a:rPr>
              <a:t>1.000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5468112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B9A8C"/>
                </a:solidFill>
                <a:latin typeface="Calibri"/>
              </a:rPr>
              <a:t>0 false alarms / 6 normal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4572000"/>
            <a:ext cx="2606040" cy="1234440"/>
          </a:xfrm>
          <a:prstGeom prst="rect">
            <a:avLst/>
          </a:prstGeom>
          <a:solidFill>
            <a:srgbClr val="1A1B15"/>
          </a:solidFill>
          <a:ln w="9525">
            <a:solidFill>
              <a:srgbClr val="343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0712" y="4700016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9B9A8C"/>
                </a:solidFill>
                <a:latin typeface="Consolas"/>
              </a:rPr>
              <a:t>RECALL (L1)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10712" y="4956048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6DC"/>
                </a:solidFill>
                <a:latin typeface="Consolas"/>
              </a:rPr>
              <a:t>0.286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0712" y="5468112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B9A8C"/>
                </a:solidFill>
                <a:latin typeface="Calibri"/>
              </a:rPr>
              <a:t>8 / 28 caught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4572000"/>
            <a:ext cx="2606040" cy="1234440"/>
          </a:xfrm>
          <a:prstGeom prst="rect">
            <a:avLst/>
          </a:prstGeom>
          <a:solidFill>
            <a:srgbClr val="1A1B15"/>
          </a:solidFill>
          <a:ln w="9525">
            <a:solidFill>
              <a:srgbClr val="343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53912" y="4700016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9B9A8C"/>
                </a:solidFill>
                <a:latin typeface="Consolas"/>
              </a:rPr>
              <a:t>CLASS ACC.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53912" y="4956048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E6DC"/>
                </a:solidFill>
                <a:latin typeface="Consolas"/>
              </a:rPr>
              <a:t>0.500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3912" y="5468112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B9A8C"/>
                </a:solidFill>
                <a:latin typeface="Calibri"/>
              </a:rPr>
              <a:t>on true positives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32520" y="4572000"/>
            <a:ext cx="2606040" cy="1234440"/>
          </a:xfrm>
          <a:prstGeom prst="rect">
            <a:avLst/>
          </a:prstGeom>
          <a:solidFill>
            <a:srgbClr val="1A1B15"/>
          </a:solidFill>
          <a:ln w="9525">
            <a:solidFill>
              <a:srgbClr val="343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97112" y="4700016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9B9A8C"/>
                </a:solidFill>
                <a:latin typeface="Consolas"/>
              </a:rPr>
              <a:t>THROUGHPUT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7112" y="4956048"/>
            <a:ext cx="227685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A33D"/>
                </a:solidFill>
                <a:latin typeface="Consolas"/>
              </a:rPr>
              <a:t>~7×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97112" y="5468112"/>
            <a:ext cx="2276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B9A8C"/>
                </a:solidFill>
                <a:latin typeface="Calibri"/>
              </a:rPr>
              <a:t>faster than real 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B9A8C"/>
                </a:solidFill>
                <a:latin typeface="Consolas"/>
              </a:rPr>
              <a:t>github.com/PrithvirajG/ahc-video-anomaly-detection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3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150">
                <a:solidFill>
                  <a:srgbClr val="E8A33D"/>
                </a:solidFill>
                <a:latin typeface="Consolas"/>
              </a:rPr>
              <a:t>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E8E6DC"/>
                </a:solidFill>
                <a:latin typeface="Calibri"/>
              </a:rPr>
              <a:t>The recall gap has a name: no memory between frames</a:t>
            </a:r>
          </a:p>
        </p:txBody>
      </p:sp>
      <p:pic>
        <p:nvPicPr>
          <p:cNvPr id="4" name="Picture 3" descr="T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1645920" cy="1645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3154680"/>
            <a:ext cx="3383280" cy="502920"/>
          </a:xfrm>
          <a:prstGeom prst="rect">
            <a:avLst/>
          </a:prstGeom>
          <a:solidFill>
            <a:srgbClr val="1A1B15"/>
          </a:solidFill>
          <a:ln w="19050">
            <a:solidFill>
              <a:srgbClr val="5FB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3200400"/>
            <a:ext cx="31638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8E6DC"/>
                </a:solidFill>
                <a:latin typeface="Consolas"/>
              </a:rPr>
              <a:t>PRED traffic_accident (0.98)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3438144"/>
            <a:ext cx="31638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B9A8C"/>
                </a:solidFill>
                <a:latin typeface="Calibri"/>
              </a:rPr>
              <a:t>TRUTH traffic_accident</a:t>
            </a:r>
          </a:p>
        </p:txBody>
      </p:sp>
      <p:pic>
        <p:nvPicPr>
          <p:cNvPr id="8" name="Picture 7" descr="T0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508760"/>
            <a:ext cx="1645920" cy="1645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160520" y="3154680"/>
            <a:ext cx="3383280" cy="502920"/>
          </a:xfrm>
          <a:prstGeom prst="rect">
            <a:avLst/>
          </a:prstGeom>
          <a:solidFill>
            <a:srgbClr val="1A1B15"/>
          </a:solidFill>
          <a:ln w="19050">
            <a:solidFill>
              <a:srgbClr val="D158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3200400"/>
            <a:ext cx="3163824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E8E6DC"/>
                </a:solidFill>
                <a:latin typeface="Consolas"/>
              </a:rPr>
              <a:t>PRED normal (missed)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3438144"/>
            <a:ext cx="31638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9B9A8C"/>
                </a:solidFill>
                <a:latin typeface="Calibri"/>
              </a:rPr>
              <a:t>TRUTH traffic_congestion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508760"/>
            <a:ext cx="37033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6DC"/>
                </a:solidFill>
                <a:latin typeface="Calibri"/>
              </a:rPr>
              <a:t>PATTERN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6DC"/>
                </a:solidFill>
                <a:latin typeface="Calibri"/>
              </a:rPr>
              <a:t>Every class we catch has a strong single-frame look — flames, haze, standing water, wreckage. Every class we miss is defined by duration, not appearance — stalled vehicles, congestion, loitering.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6DC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6DC"/>
                </a:solidFill>
                <a:latin typeface="Calibri"/>
              </a:rPr>
              <a:t>CHEAP FIX FOUND BY INSPECTION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6DC"/>
                </a:solidFill>
                <a:latin typeface="Calibri"/>
              </a:rPr>
              <a:t>A normal-rule phrase ("queue at a red light") likely sits too close to congested traffic in embedding space. Rewording it is a minutes-long test, no architecture change.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6DC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6DC"/>
                </a:solidFill>
                <a:latin typeface="Calibri"/>
              </a:rPr>
              <a:t>WITH MORE TIME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E8E6DC"/>
                </a:solidFill>
                <a:latin typeface="Calibri"/>
              </a:rPr>
              <a:t>A rolling frame buffer so duration-suspect candidates get sampled across 20–30s instead of 2 — letting the VLM compare "same as before" directly, reusing the existing model call.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9B9A8C"/>
                </a:solidFill>
                <a:latin typeface="Consolas"/>
              </a:rPr>
              <a:t>github.com/PrithvirajG/ahc-video-anomaly-detection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